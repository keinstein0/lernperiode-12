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32402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833791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5724160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0979776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59723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866484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0809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0775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0468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3311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1169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3042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1AF30F-6633-14E4-25FB-80D661F61BF8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399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4887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9943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A1BD7D-6690-5281-DC3D-93920B7392CA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406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39916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3340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4BBA19-C709-48E0-6C3A-782A5DD912F6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07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9968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815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68292-B2C2-95F4-01B9-099C7E998E13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758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280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3040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0EB3A8-36EF-B090-94AD-0EC6E627958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34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79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388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4C8EEF-80E8-BCC2-B8A7-7E21871B447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49017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015038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67727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46695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1166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418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39615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78686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47277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37259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07790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29968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05349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07947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73695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2873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317135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39281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49160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6047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8832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47626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0021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302033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00186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703380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589452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180494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123376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6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732483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167527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0868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34717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517538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620436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3424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12961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37310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37685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838217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6534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09732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48335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8786356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55820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46859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81096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1230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1384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91270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05194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93927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3144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510242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18604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850343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38605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06981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67419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98029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9650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845254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788240" name="Title 1"/>
          <p:cNvSpPr>
            <a:spLocks noGrp="1"/>
          </p:cNvSpPr>
          <p:nvPr>
            <p:ph type="ctrTitle"/>
          </p:nvPr>
        </p:nvSpPr>
        <p:spPr bwMode="auto">
          <a:xfrm>
            <a:off x="1523999" y="1700666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de-CH" sz="14000" b="1">
                <a:latin typeface="Noto Sans Devanagari"/>
                <a:ea typeface="Noto Sans Devanagari"/>
                <a:cs typeface="Noto Sans Devanagari"/>
              </a:rPr>
              <a:t>OptimAG</a:t>
            </a:r>
            <a:endParaRPr lang="en-US"/>
          </a:p>
        </p:txBody>
      </p:sp>
      <p:sp>
        <p:nvSpPr>
          <p:cNvPr id="174491402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4320267"/>
            <a:ext cx="9144000" cy="527276"/>
          </a:xfrm>
        </p:spPr>
        <p:txBody>
          <a:bodyPr/>
          <a:lstStyle/>
          <a:p>
            <a:pPr>
              <a:defRPr/>
            </a:pPr>
            <a:r>
              <a:rPr lang="de-CH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Rigid business solutions</a:t>
            </a:r>
            <a:endParaRPr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539168164" name=""/>
          <p:cNvSpPr/>
          <p:nvPr/>
        </p:nvSpPr>
        <p:spPr bwMode="auto">
          <a:xfrm rot="0" flipH="0" flipV="0">
            <a:off x="11773588" y="-204107"/>
            <a:ext cx="918482" cy="82153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5871425" name=""/>
          <p:cNvSpPr/>
          <p:nvPr/>
        </p:nvSpPr>
        <p:spPr bwMode="auto">
          <a:xfrm rot="0" flipH="0" flipV="0">
            <a:off x="11773588" y="-204107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5234465" name=""/>
          <p:cNvSpPr/>
          <p:nvPr/>
        </p:nvSpPr>
        <p:spPr bwMode="auto">
          <a:xfrm rot="0" flipH="0" flipV="0">
            <a:off x="-541556" y="-19389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118686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057610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52467" name=""/>
          <p:cNvSpPr/>
          <p:nvPr/>
        </p:nvSpPr>
        <p:spPr bwMode="auto">
          <a:xfrm rot="0" flipH="0" flipV="0">
            <a:off x="-541555" y="-19388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903655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49464" y="1003526"/>
            <a:ext cx="8231391" cy="5102678"/>
          </a:xfrm>
          <a:prstGeom prst="rect">
            <a:avLst/>
          </a:prstGeom>
        </p:spPr>
      </p:pic>
      <p:sp>
        <p:nvSpPr>
          <p:cNvPr id="702515395" name=""/>
          <p:cNvSpPr/>
          <p:nvPr/>
        </p:nvSpPr>
        <p:spPr bwMode="auto">
          <a:xfrm rot="0" flipH="0" flipV="0">
            <a:off x="7504687" y="5323794"/>
            <a:ext cx="2755446" cy="1020535"/>
          </a:xfrm>
          <a:prstGeom prst="ellipse">
            <a:avLst/>
          </a:prstGeom>
          <a:noFill/>
          <a:ln w="762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040227" name=""/>
          <p:cNvSpPr/>
          <p:nvPr/>
        </p:nvSpPr>
        <p:spPr bwMode="auto">
          <a:xfrm rot="0" flipH="0" flipV="0">
            <a:off x="558374" y="1003526"/>
            <a:ext cx="10613571" cy="5248955"/>
          </a:xfrm>
          <a:prstGeom prst="mathMultiply">
            <a:avLst>
              <a:gd name="adj1" fmla="val 14679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763176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75032" y="286932"/>
            <a:ext cx="9144000" cy="5272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lang="de-CH" sz="30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The problem</a:t>
            </a:r>
            <a:endParaRPr sz="30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1001257080" name="Subtitle 2"/>
          <p:cNvSpPr>
            <a:spLocks noGrp="1"/>
          </p:cNvSpPr>
          <p:nvPr/>
        </p:nvSpPr>
        <p:spPr bwMode="auto">
          <a:xfrm flipH="0" flipV="0">
            <a:off x="1523999" y="6429374"/>
            <a:ext cx="9144000" cy="3061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CH" sz="16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OptimAG – Straub, Münger, de Vries, Dijkstra</a:t>
            </a:r>
            <a:endParaRPr sz="16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025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4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" dur="500"/>
                                        <p:tgtEl>
                                          <p:spTgt spid="11104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26305" name=""/>
          <p:cNvSpPr/>
          <p:nvPr/>
        </p:nvSpPr>
        <p:spPr bwMode="auto">
          <a:xfrm rot="0" flipH="0" flipV="0">
            <a:off x="1474728" y="766141"/>
            <a:ext cx="9069456" cy="5611467"/>
          </a:xfrm>
          <a:prstGeom prst="flowChartAlternateProcess">
            <a:avLst/>
          </a:prstGeom>
          <a:solidFill>
            <a:srgbClr val="1814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3246887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173189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02989" name=""/>
          <p:cNvSpPr/>
          <p:nvPr/>
        </p:nvSpPr>
        <p:spPr bwMode="auto">
          <a:xfrm rot="0" flipH="0" flipV="0">
            <a:off x="-541555" y="-19388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166620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75031" y="286931"/>
            <a:ext cx="9144000" cy="527275"/>
          </a:xfrm>
        </p:spPr>
        <p:txBody>
          <a:bodyPr/>
          <a:lstStyle/>
          <a:p>
            <a:pPr algn="l">
              <a:defRPr/>
            </a:pPr>
            <a:r>
              <a:rPr lang="de-CH" sz="30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Our solution</a:t>
            </a:r>
            <a:endParaRPr sz="30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6865569" name="Subtitle 2"/>
          <p:cNvSpPr>
            <a:spLocks noGrp="1"/>
          </p:cNvSpPr>
          <p:nvPr/>
        </p:nvSpPr>
        <p:spPr bwMode="auto">
          <a:xfrm flipH="0" flipV="0">
            <a:off x="1523998" y="6429373"/>
            <a:ext cx="9144000" cy="30615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CH" sz="16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OptimAG – Straub, Münger, de Vries, Dijkstra</a:t>
            </a:r>
            <a:endParaRPr sz="16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pic>
        <p:nvPicPr>
          <p:cNvPr id="6648181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95562" y="858491"/>
            <a:ext cx="7000875" cy="5467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1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250"/>
                                        <p:tgtEl>
                                          <p:spTgt spid="66481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435895" name=""/>
          <p:cNvSpPr/>
          <p:nvPr/>
        </p:nvSpPr>
        <p:spPr bwMode="auto">
          <a:xfrm rot="0" flipH="0" flipV="0">
            <a:off x="1474727" y="766140"/>
            <a:ext cx="9069455" cy="5611466"/>
          </a:xfrm>
          <a:prstGeom prst="flowChartAlternateProcess">
            <a:avLst/>
          </a:prstGeom>
          <a:solidFill>
            <a:srgbClr val="1814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4993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786507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5498072" name=""/>
          <p:cNvSpPr/>
          <p:nvPr/>
        </p:nvSpPr>
        <p:spPr bwMode="auto">
          <a:xfrm rot="0" flipH="0" flipV="0">
            <a:off x="-541555" y="-19388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851160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75031" y="286931"/>
            <a:ext cx="9144000" cy="5272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lang="de-CH" sz="30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Our solution</a:t>
            </a:r>
            <a:endParaRPr sz="30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1262561011" name="Subtitle 2"/>
          <p:cNvSpPr>
            <a:spLocks noGrp="1"/>
          </p:cNvSpPr>
          <p:nvPr/>
        </p:nvSpPr>
        <p:spPr bwMode="auto">
          <a:xfrm flipH="0" flipV="0">
            <a:off x="1523998" y="6429373"/>
            <a:ext cx="9144000" cy="30615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CH" sz="16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OptimAG – Straub, Münger, de Vries, Dijkstra</a:t>
            </a:r>
            <a:endParaRPr sz="16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pic>
        <p:nvPicPr>
          <p:cNvPr id="13883596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652819" y="872853"/>
            <a:ext cx="6886357" cy="5398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35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250"/>
                                        <p:tgtEl>
                                          <p:spTgt spid="138835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61977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872189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140434" name=""/>
          <p:cNvSpPr/>
          <p:nvPr/>
        </p:nvSpPr>
        <p:spPr bwMode="auto">
          <a:xfrm rot="0" flipH="0" flipV="0">
            <a:off x="-541555" y="-19388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27828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75031" y="286931"/>
            <a:ext cx="9144000" cy="527275"/>
          </a:xfrm>
        </p:spPr>
        <p:txBody>
          <a:bodyPr/>
          <a:lstStyle/>
          <a:p>
            <a:pPr algn="l">
              <a:defRPr/>
            </a:pPr>
            <a:r>
              <a:rPr lang="de-CH" sz="30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The plan</a:t>
            </a:r>
            <a:endParaRPr sz="30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729240680" name="Subtitle 2"/>
          <p:cNvSpPr>
            <a:spLocks noGrp="1"/>
          </p:cNvSpPr>
          <p:nvPr/>
        </p:nvSpPr>
        <p:spPr bwMode="auto">
          <a:xfrm flipH="0" flipV="0">
            <a:off x="1523998" y="6429373"/>
            <a:ext cx="9144000" cy="30615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CH" sz="16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OptimAG – Straub, Münger, de Vries, Dijkstra</a:t>
            </a:r>
            <a:endParaRPr sz="16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pic>
        <p:nvPicPr>
          <p:cNvPr id="4967280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76925" y="1640506"/>
            <a:ext cx="11225552" cy="3373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545535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15801413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8204994" name=""/>
          <p:cNvSpPr/>
          <p:nvPr/>
        </p:nvSpPr>
        <p:spPr bwMode="auto">
          <a:xfrm rot="0" flipH="0" flipV="0">
            <a:off x="-541555" y="-19388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56140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75031" y="286931"/>
            <a:ext cx="9144000" cy="527275"/>
          </a:xfrm>
        </p:spPr>
        <p:txBody>
          <a:bodyPr/>
          <a:lstStyle/>
          <a:p>
            <a:pPr algn="l">
              <a:defRPr/>
            </a:pPr>
            <a:r>
              <a:rPr lang="de-CH" sz="30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Why us?</a:t>
            </a:r>
            <a:endParaRPr sz="30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1447875962" name="Subtitle 2"/>
          <p:cNvSpPr>
            <a:spLocks noGrp="1"/>
          </p:cNvSpPr>
          <p:nvPr/>
        </p:nvSpPr>
        <p:spPr bwMode="auto">
          <a:xfrm flipH="0" flipV="0">
            <a:off x="1523998" y="6429373"/>
            <a:ext cx="9144000" cy="30615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CH" sz="16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OptimAG – Straub, Münger, de Vries, Dijkstra</a:t>
            </a:r>
            <a:endParaRPr sz="16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pic>
        <p:nvPicPr>
          <p:cNvPr id="7725301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66517" y="1795039"/>
            <a:ext cx="3225905" cy="3267921"/>
          </a:xfrm>
          <a:prstGeom prst="rect">
            <a:avLst/>
          </a:prstGeom>
        </p:spPr>
      </p:pic>
      <p:sp>
        <p:nvSpPr>
          <p:cNvPr id="869735364" name="Subtitle 2"/>
          <p:cNvSpPr>
            <a:spLocks noGrp="1"/>
          </p:cNvSpPr>
          <p:nvPr/>
        </p:nvSpPr>
        <p:spPr bwMode="auto">
          <a:xfrm flipH="0" flipV="0">
            <a:off x="5300780" y="2191251"/>
            <a:ext cx="4193951" cy="52727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6051" indent="-416051" algn="l">
              <a:buFont typeface="Arial"/>
              <a:buChar char="–"/>
              <a:defRPr/>
            </a:pPr>
            <a:r>
              <a:rPr lang="de-CH" sz="30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Fachkompetent</a:t>
            </a:r>
            <a:endParaRPr sz="30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1135467709" name="Subtitle 2"/>
          <p:cNvSpPr>
            <a:spLocks noGrp="1"/>
          </p:cNvSpPr>
          <p:nvPr/>
        </p:nvSpPr>
        <p:spPr bwMode="auto">
          <a:xfrm flipH="0" flipV="0">
            <a:off x="5300780" y="3092043"/>
            <a:ext cx="4976362" cy="5272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6051" indent="-416051" algn="l">
              <a:buFont typeface="Arial"/>
              <a:buChar char="–"/>
              <a:defRPr/>
            </a:pPr>
            <a:r>
              <a:rPr lang="de-CH" sz="30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Sicherheitsbewusst</a:t>
            </a:r>
            <a:endParaRPr sz="30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200583940" name="Subtitle 2"/>
          <p:cNvSpPr>
            <a:spLocks noGrp="1"/>
          </p:cNvSpPr>
          <p:nvPr/>
        </p:nvSpPr>
        <p:spPr bwMode="auto">
          <a:xfrm flipH="0" flipV="0">
            <a:off x="5300780" y="3994718"/>
            <a:ext cx="4193950" cy="52727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6050" indent="-416050" algn="l">
              <a:buFont typeface="Arial"/>
              <a:buChar char="–"/>
              <a:defRPr/>
            </a:pPr>
            <a:r>
              <a:rPr lang="de-CH" sz="3000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Zukunftsorientiert</a:t>
            </a:r>
            <a:endParaRPr sz="3000"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73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973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46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546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8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0058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465623" name="Title 1"/>
          <p:cNvSpPr>
            <a:spLocks noGrp="1"/>
          </p:cNvSpPr>
          <p:nvPr>
            <p:ph type="ctrTitle"/>
          </p:nvPr>
        </p:nvSpPr>
        <p:spPr bwMode="auto">
          <a:xfrm>
            <a:off x="1523999" y="1700665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de-CH" sz="14000" b="1">
                <a:latin typeface="Noto Sans Devanagari"/>
                <a:ea typeface="Noto Sans Devanagari"/>
                <a:cs typeface="Noto Sans Devanagari"/>
              </a:rPr>
              <a:t>OptimAG</a:t>
            </a:r>
            <a:endParaRPr lang="en-US"/>
          </a:p>
        </p:txBody>
      </p:sp>
      <p:sp>
        <p:nvSpPr>
          <p:cNvPr id="60084487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4320266"/>
            <a:ext cx="9144000" cy="527275"/>
          </a:xfrm>
        </p:spPr>
        <p:txBody>
          <a:bodyPr/>
          <a:lstStyle/>
          <a:p>
            <a:pPr>
              <a:defRPr/>
            </a:pPr>
            <a:r>
              <a:rPr lang="de-CH">
                <a:solidFill>
                  <a:schemeClr val="bg2">
                    <a:lumMod val="50000"/>
                  </a:schemeClr>
                </a:solidFill>
                <a:latin typeface="Noto Sans"/>
                <a:ea typeface="Noto Sans"/>
                <a:cs typeface="Noto Sans"/>
              </a:rPr>
              <a:t>Rigid business solutions</a:t>
            </a:r>
            <a:endParaRPr>
              <a:solidFill>
                <a:schemeClr val="bg2">
                  <a:lumMod val="50000"/>
                </a:schemeClr>
              </a:solidFill>
              <a:latin typeface="Noto Sans"/>
              <a:cs typeface="Noto Sans"/>
            </a:endParaRPr>
          </a:p>
        </p:txBody>
      </p:sp>
      <p:sp>
        <p:nvSpPr>
          <p:cNvPr id="1106815637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200" name=""/>
          <p:cNvSpPr/>
          <p:nvPr/>
        </p:nvSpPr>
        <p:spPr bwMode="auto">
          <a:xfrm rot="0" flipH="0" flipV="0">
            <a:off x="11773587" y="-204106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046507" name=""/>
          <p:cNvSpPr/>
          <p:nvPr/>
        </p:nvSpPr>
        <p:spPr bwMode="auto">
          <a:xfrm rot="0" flipH="0" flipV="0">
            <a:off x="-541555" y="-19388"/>
            <a:ext cx="918481" cy="821531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:fade thruBlk="0"/>
      </p:transition>
    </mc:Choice>
    <mc:Fallback>
      <p:transition spd="slow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2026-10-16T09:14:17Z</dcterms:modified>
</cp:coreProperties>
</file>